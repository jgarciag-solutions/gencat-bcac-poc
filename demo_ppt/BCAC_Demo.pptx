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 de la demo de la POC BCAC. Durada prevista: 30 minuts.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blocs: interfície, cicles de vida, cicle Base i cicle Adaptat.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pestanya per cada perfil. Les pestanyes de Base i d'Adaptat estan separades; Publicats i Retirats són comunes.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Base: 5 estats. Adaptat: 3 estats i requereix un Base publicat com a font. Rebuig, nova versió i retirada.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Rol: Editor Departamental. Mostrar la pestanya i el botó de pujada. Encara no hi ha cap contingut.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Pujar BASE_Families_nombroses.pdf amb: Familles_nombrosa · Base · Català · Descripció del tràmit o servei · Drets Socials i Inclusió · Societat i ciutadania &gt; Famílies &gt; Títol Família Nombrosa. El responsable és obligatori al formulari (Família i infants).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tauler de l'editor només hi ha BASE_FM. Es prem «Enviar a revisió».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Prémer «Analitzar text amb IA». El resultat per a BASE_FM és positiu.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 amb BASE_INCOHERENTE_FM: dues contradiccions (3 o més fills però màxim 2 descendents; discapacitat). Obrir el PDF anotat.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prem «Envia a validació».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Prémer «Validació normativa». L'agent llegeix els PDF de la carpeta normativa/.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Clicar la primera targeta: el visor salta a la pàgina anotada.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prem «Validar».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Prémer «Detecció de duplicitats» amb BASE_FM com a únic contingut.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BASE_FM publicat; BASE_INCOHERENTE_FM arriba al gestor. Distància SimHash 3 (llindar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prem «Publicar»; BASE_FM passa a la pestanya Publicats.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mostra el diàleg des del Referent Departamental amb BASE_INCOHERENTE_FM.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mostra que, des de qualsevol fase de validació, el rebuig retorna el contingut a l'Editor Departamental.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Després de prémer «Crea una nova versió» a Publicats.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l'Editor Departamental apareix BASE_FM v2 amb el botó «Edita».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repeteix el cicle de validacions per a la v2 fins a la publicació.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versió anterior queda consultable a Retirats.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prem «Retira el contingut» a Publicats i es mostra Retirats.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Rol: Editor de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Pujar ADAPTAT_260724 Vigent PRESTACIONS FAMÍLIES v310.pdf: Adaptat · Català · Descripció del tràmit o servei · font Familles_nombrosa (v1) · WEB. La denominació «Familles_nombroses_adaptat_WEB» és la que s'ha triat per 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Només hi ha l'adaptat a la safata. Es prem «Envia a validació».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botó abans d'executar-lo.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Clicar la primera targeta: el visor salta a la pàgina del PDF anotat.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prem «Rebutja» i s'escriu el motiu.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safata de l'Editor de Canal mostra «Retornat per…».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Formulari d'edició del contingut retornat.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prem «Valida i publica».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Publicats només mostra l'adaptat (el Base publicat s'ha ocultat de la captura per mostrar només el contingut indicat).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L'editor rep la nova versió.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Estat previ: adaptat v1 publicat (el Base publicat s'ha ocultat de la captura).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Formulari d'edició de la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Publicats només mostra l'adaptat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Retirats conserva la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mostra el botó de retirada a Publicats (el Base publicat s'ha ocultat de la captura).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Relationship Id="rId4" Type="http://schemas.openxmlformats.org/officeDocument/2006/relationships/image" Target="../media/image3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3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Relationship Id="rId4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3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l vermell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2269929" cy="731520"/>
          </a:xfrm>
          <a:prstGeom prst="rect">
            <a:avLst/>
          </a:prstGeom>
        </p:spPr>
      </p:pic>
      <p:sp>
        <p:nvSpPr>
          <p:cNvPr id="4" name="Títol"/>
          <p:cNvSpPr txBox="1"/>
          <p:nvPr/>
        </p:nvSpPr>
        <p:spPr>
          <a:xfrm>
            <a:off x="640080" y="2011680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BCAC · Gestió documental amb governança</a:t>
            </a:r>
          </a:p>
        </p:txBody>
      </p:sp>
      <p:sp>
        <p:nvSpPr>
          <p:cNvPr id="5" name="Subtítol"/>
          <p:cNvSpPr txBox="1"/>
          <p:nvPr/>
        </p:nvSpPr>
        <p:spPr>
          <a:xfrm>
            <a:off x="640080" y="384048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80000"/>
                </a:solidFill>
                <a:latin typeface="Arial"/>
              </a:rPr>
              <a:t>Base Coneixement Atenció Ciutadana · POC</a:t>
            </a:r>
          </a:p>
        </p:txBody>
      </p:sp>
      <p:sp>
        <p:nvSpPr>
          <p:cNvPr id="6" name="Descripció"/>
          <p:cNvSpPr txBox="1"/>
          <p:nvPr/>
        </p:nvSpPr>
        <p:spPr>
          <a:xfrm>
            <a:off x="640080" y="43434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66666"/>
                </a:solidFill>
                <a:latin typeface="Arial"/>
              </a:rPr>
              <a:t>Demostració dels dos cicles de vida dels continguts</a:t>
            </a:r>
          </a:p>
        </p:txBody>
      </p:sp>
      <p:pic>
        <p:nvPicPr>
          <p:cNvPr id="7" name="Logo Ayesa" descr="logo_aye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897880"/>
            <a:ext cx="1301112" cy="384048"/>
          </a:xfrm>
          <a:prstGeom prst="rect">
            <a:avLst/>
          </a:prstGeom>
        </p:spPr>
      </p:pic>
      <p:sp>
        <p:nvSpPr>
          <p:cNvPr id="8" name="Data"/>
          <p:cNvSpPr txBox="1"/>
          <p:nvPr/>
        </p:nvSpPr>
        <p:spPr>
          <a:xfrm>
            <a:off x="2651760" y="5989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Ayesa Digital · Octubre 2026</a:t>
            </a:r>
          </a:p>
        </p:txBody>
      </p:sp>
      <p:pic>
        <p:nvPicPr>
          <p:cNvPr id="9" name="Captura de l'aplicació" descr="b06_ref_apro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240280"/>
            <a:ext cx="3886200" cy="2185988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10" name="Missatge"/>
          <p:cNvSpPr txBox="1"/>
          <p:nvPr/>
        </p:nvSpPr>
        <p:spPr>
          <a:xfrm>
            <a:off x="8001000" y="4526280"/>
            <a:ext cx="3886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Una pestanya per cada perfil, IA per auditar i un flux validat de principi a fi.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Índex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8" name="Títol"/>
          <p:cNvSpPr txBox="1"/>
          <p:nvPr/>
        </p:nvSpPr>
        <p:spPr>
          <a:xfrm>
            <a:off x="41148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Índex</a:t>
            </a:r>
          </a:p>
        </p:txBody>
      </p:sp>
      <p:sp>
        <p:nvSpPr>
          <p:cNvPr id="9" name="Targeta 1"/>
          <p:cNvSpPr/>
          <p:nvPr/>
        </p:nvSpPr>
        <p:spPr>
          <a:xfrm>
            <a:off x="411480" y="178308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úmero 1"/>
          <p:cNvSpPr/>
          <p:nvPr/>
        </p:nvSpPr>
        <p:spPr>
          <a:xfrm>
            <a:off x="731520" y="2148840"/>
            <a:ext cx="731520" cy="7315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ítol 1"/>
          <p:cNvSpPr txBox="1"/>
          <p:nvPr/>
        </p:nvSpPr>
        <p:spPr>
          <a:xfrm>
            <a:off x="1737360" y="214884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Arial"/>
              </a:rPr>
              <a:t>Interfície</a:t>
            </a:r>
          </a:p>
        </p:txBody>
      </p:sp>
      <p:sp>
        <p:nvSpPr>
          <p:cNvPr id="12" name="Descripció 1"/>
          <p:cNvSpPr txBox="1"/>
          <p:nvPr/>
        </p:nvSpPr>
        <p:spPr>
          <a:xfrm>
            <a:off x="1737360" y="265176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Arial"/>
              </a:rPr>
              <a:t>Una pestanya per cada perfil</a:t>
            </a:r>
          </a:p>
        </p:txBody>
      </p:sp>
      <p:sp>
        <p:nvSpPr>
          <p:cNvPr id="13" name="Rang 1"/>
          <p:cNvSpPr txBox="1"/>
          <p:nvPr/>
        </p:nvSpPr>
        <p:spPr>
          <a:xfrm>
            <a:off x="1737360" y="33832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0000"/>
                </a:solidFill>
                <a:latin typeface="Arial"/>
              </a:rPr>
              <a:t>Diapositiva 3</a:t>
            </a:r>
          </a:p>
        </p:txBody>
      </p:sp>
      <p:sp>
        <p:nvSpPr>
          <p:cNvPr id="14" name="Targeta 2"/>
          <p:cNvSpPr/>
          <p:nvPr/>
        </p:nvSpPr>
        <p:spPr>
          <a:xfrm>
            <a:off x="6172200" y="178308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6492240" y="2148840"/>
            <a:ext cx="731520" cy="7315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ítol 2"/>
          <p:cNvSpPr txBox="1"/>
          <p:nvPr/>
        </p:nvSpPr>
        <p:spPr>
          <a:xfrm>
            <a:off x="7498079" y="214884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Arial"/>
              </a:rPr>
              <a:t>Els dos cicles de vida</a:t>
            </a:r>
          </a:p>
        </p:txBody>
      </p:sp>
      <p:sp>
        <p:nvSpPr>
          <p:cNvPr id="17" name="Descripció 2"/>
          <p:cNvSpPr txBox="1"/>
          <p:nvPr/>
        </p:nvSpPr>
        <p:spPr>
          <a:xfrm>
            <a:off x="7498079" y="265176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Arial"/>
              </a:rPr>
              <a:t>Contingut Base i contingut Adaptat</a:t>
            </a:r>
          </a:p>
        </p:txBody>
      </p:sp>
      <p:sp>
        <p:nvSpPr>
          <p:cNvPr id="18" name="Rang 2"/>
          <p:cNvSpPr txBox="1"/>
          <p:nvPr/>
        </p:nvSpPr>
        <p:spPr>
          <a:xfrm>
            <a:off x="7498079" y="33832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0000"/>
                </a:solidFill>
                <a:latin typeface="Arial"/>
              </a:rPr>
              <a:t>Diapositiva 4</a:t>
            </a:r>
          </a:p>
        </p:txBody>
      </p:sp>
      <p:sp>
        <p:nvSpPr>
          <p:cNvPr id="19" name="Targeta 3"/>
          <p:cNvSpPr/>
          <p:nvPr/>
        </p:nvSpPr>
        <p:spPr>
          <a:xfrm>
            <a:off x="411480" y="411480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úmero 3"/>
          <p:cNvSpPr/>
          <p:nvPr/>
        </p:nvSpPr>
        <p:spPr>
          <a:xfrm>
            <a:off x="731520" y="4480560"/>
            <a:ext cx="731520" cy="7315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ítol 3"/>
          <p:cNvSpPr txBox="1"/>
          <p:nvPr/>
        </p:nvSpPr>
        <p:spPr>
          <a:xfrm>
            <a:off x="1737360" y="448056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Arial"/>
              </a:rPr>
              <a:t>Contingut Base</a:t>
            </a:r>
          </a:p>
        </p:txBody>
      </p:sp>
      <p:sp>
        <p:nvSpPr>
          <p:cNvPr id="22" name="Descripció 3"/>
          <p:cNvSpPr txBox="1"/>
          <p:nvPr/>
        </p:nvSpPr>
        <p:spPr>
          <a:xfrm>
            <a:off x="1737360" y="498348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Arial"/>
              </a:rPr>
              <a:t>Pujada, validacions amb IA, publicació, versions i retirada</a:t>
            </a:r>
          </a:p>
        </p:txBody>
      </p:sp>
      <p:sp>
        <p:nvSpPr>
          <p:cNvPr id="23" name="Rang 3"/>
          <p:cNvSpPr txBox="1"/>
          <p:nvPr/>
        </p:nvSpPr>
        <p:spPr>
          <a:xfrm>
            <a:off x="1737360" y="57150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0000"/>
                </a:solidFill>
                <a:latin typeface="Arial"/>
              </a:rPr>
              <a:t>Diapositives 5–23</a:t>
            </a:r>
          </a:p>
        </p:txBody>
      </p:sp>
      <p:sp>
        <p:nvSpPr>
          <p:cNvPr id="24" name="Targeta 4"/>
          <p:cNvSpPr/>
          <p:nvPr/>
        </p:nvSpPr>
        <p:spPr>
          <a:xfrm>
            <a:off x="6172200" y="411480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úmero 4"/>
          <p:cNvSpPr/>
          <p:nvPr/>
        </p:nvSpPr>
        <p:spPr>
          <a:xfrm>
            <a:off x="6492240" y="4480560"/>
            <a:ext cx="731520" cy="73152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ítol 4"/>
          <p:cNvSpPr txBox="1"/>
          <p:nvPr/>
        </p:nvSpPr>
        <p:spPr>
          <a:xfrm>
            <a:off x="7498079" y="448056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Arial"/>
              </a:rPr>
              <a:t>Contingut Adaptat</a:t>
            </a:r>
          </a:p>
        </p:txBody>
      </p:sp>
      <p:sp>
        <p:nvSpPr>
          <p:cNvPr id="27" name="Descripció 4"/>
          <p:cNvSpPr txBox="1"/>
          <p:nvPr/>
        </p:nvSpPr>
        <p:spPr>
          <a:xfrm>
            <a:off x="7498079" y="498348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Arial"/>
              </a:rPr>
              <a:t>Pujada, fidelitat amb IA, rebuig, publicació, versions i retirada</a:t>
            </a:r>
          </a:p>
        </p:txBody>
      </p:sp>
      <p:sp>
        <p:nvSpPr>
          <p:cNvPr id="28" name="Rang 4"/>
          <p:cNvSpPr txBox="1"/>
          <p:nvPr/>
        </p:nvSpPr>
        <p:spPr>
          <a:xfrm>
            <a:off x="7498079" y="57150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0000"/>
                </a:solidFill>
                <a:latin typeface="Arial"/>
              </a:rPr>
              <a:t>Diapositives 24–39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Interfície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8" name="Títol"/>
          <p:cNvSpPr txBox="1"/>
          <p:nvPr/>
        </p:nvSpPr>
        <p:spPr>
          <a:xfrm>
            <a:off x="411480" y="86868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Arial"/>
              </a:rPr>
              <a:t>Interfície: una pestanya per cada perfil</a:t>
            </a:r>
          </a:p>
        </p:txBody>
      </p:sp>
      <p:pic>
        <p:nvPicPr>
          <p:cNvPr id="9" name="Captura del tauler" descr="i01_interfic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8229600" cy="41148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0" name="Grup Cicle Base"/>
          <p:cNvSpPr/>
          <p:nvPr/>
        </p:nvSpPr>
        <p:spPr>
          <a:xfrm>
            <a:off x="493776" y="2130552"/>
            <a:ext cx="4505706" cy="256032"/>
          </a:xfrm>
          <a:prstGeom prst="roundRect">
            <a:avLst>
              <a:gd name="adj" fmla="val 10000"/>
            </a:avLst>
          </a:prstGeom>
          <a:noFill/>
          <a:ln w="34925">
            <a:solidFill>
              <a:srgbClr val="C8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rup Cicle Adaptat"/>
          <p:cNvSpPr/>
          <p:nvPr/>
        </p:nvSpPr>
        <p:spPr>
          <a:xfrm>
            <a:off x="4999482" y="2130552"/>
            <a:ext cx="1968460" cy="256032"/>
          </a:xfrm>
          <a:prstGeom prst="roundRect">
            <a:avLst>
              <a:gd name="adj" fmla="val 10000"/>
            </a:avLst>
          </a:prstGeom>
          <a:noFill/>
          <a:ln w="34925">
            <a:solidFill>
              <a:srgbClr val="1F4E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rup Comunes"/>
          <p:cNvSpPr/>
          <p:nvPr/>
        </p:nvSpPr>
        <p:spPr>
          <a:xfrm>
            <a:off x="6967942" y="2130552"/>
            <a:ext cx="1204864" cy="256032"/>
          </a:xfrm>
          <a:prstGeom prst="roundRect">
            <a:avLst>
              <a:gd name="adj" fmla="val 10000"/>
            </a:avLst>
          </a:prstGeom>
          <a:noFill/>
          <a:ln w="34925">
            <a:solidFill>
              <a:srgbClr val="4B55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argeta Cicle Base"/>
          <p:cNvSpPr/>
          <p:nvPr/>
        </p:nvSpPr>
        <p:spPr>
          <a:xfrm>
            <a:off x="8915400" y="1463040"/>
            <a:ext cx="2862072" cy="1499616"/>
          </a:xfrm>
          <a:prstGeom prst="roundRect">
            <a:avLst>
              <a:gd name="adj" fmla="val 7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ítol Cicle Base"/>
          <p:cNvSpPr txBox="1"/>
          <p:nvPr/>
        </p:nvSpPr>
        <p:spPr>
          <a:xfrm>
            <a:off x="9098280" y="1600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80000"/>
                </a:solidFill>
                <a:latin typeface="Arial"/>
              </a:rPr>
              <a:t>Cicle Base</a:t>
            </a:r>
          </a:p>
        </p:txBody>
      </p:sp>
      <p:sp>
        <p:nvSpPr>
          <p:cNvPr id="15" name="Text Cicle Base"/>
          <p:cNvSpPr txBox="1"/>
          <p:nvPr/>
        </p:nvSpPr>
        <p:spPr>
          <a:xfrm>
            <a:off x="9098280" y="1965960"/>
            <a:ext cx="25420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Editor Departamental · Referent Departamental · Validador de la unitat finalista · Gestor Coneixement Coord</a:t>
            </a:r>
          </a:p>
        </p:txBody>
      </p:sp>
      <p:sp>
        <p:nvSpPr>
          <p:cNvPr id="16" name="Targeta Cicle Adaptat"/>
          <p:cNvSpPr/>
          <p:nvPr/>
        </p:nvSpPr>
        <p:spPr>
          <a:xfrm>
            <a:off x="8915400" y="3090672"/>
            <a:ext cx="2862072" cy="1499616"/>
          </a:xfrm>
          <a:prstGeom prst="roundRect">
            <a:avLst>
              <a:gd name="adj" fmla="val 7000"/>
            </a:avLst>
          </a:prstGeom>
          <a:solidFill>
            <a:srgbClr val="E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ítol Cicle Adaptat"/>
          <p:cNvSpPr txBox="1"/>
          <p:nvPr/>
        </p:nvSpPr>
        <p:spPr>
          <a:xfrm>
            <a:off x="9098280" y="32278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E8C"/>
                </a:solidFill>
                <a:latin typeface="Arial"/>
              </a:rPr>
              <a:t>Cicle Adaptat</a:t>
            </a:r>
          </a:p>
        </p:txBody>
      </p:sp>
      <p:sp>
        <p:nvSpPr>
          <p:cNvPr id="18" name="Text Cicle Adaptat"/>
          <p:cNvSpPr txBox="1"/>
          <p:nvPr/>
        </p:nvSpPr>
        <p:spPr>
          <a:xfrm>
            <a:off x="9098280" y="3593591"/>
            <a:ext cx="25420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Editor de Canal · Gestor Coneixement Canal</a:t>
            </a:r>
          </a:p>
        </p:txBody>
      </p:sp>
      <p:sp>
        <p:nvSpPr>
          <p:cNvPr id="19" name="Targeta Pestanyes comunes"/>
          <p:cNvSpPr/>
          <p:nvPr/>
        </p:nvSpPr>
        <p:spPr>
          <a:xfrm>
            <a:off x="8915400" y="4718304"/>
            <a:ext cx="2862072" cy="1499616"/>
          </a:xfrm>
          <a:prstGeom prst="roundRect">
            <a:avLst>
              <a:gd name="adj" fmla="val 7000"/>
            </a:avLst>
          </a:prstGeom>
          <a:solidFill>
            <a:srgbClr val="EEF0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ítol Pestanyes comunes"/>
          <p:cNvSpPr txBox="1"/>
          <p:nvPr/>
        </p:nvSpPr>
        <p:spPr>
          <a:xfrm>
            <a:off x="9098280" y="48554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B5563"/>
                </a:solidFill>
                <a:latin typeface="Arial"/>
              </a:rPr>
              <a:t>Pestanyes comunes</a:t>
            </a:r>
          </a:p>
        </p:txBody>
      </p:sp>
      <p:sp>
        <p:nvSpPr>
          <p:cNvPr id="21" name="Text Pestanyes comunes"/>
          <p:cNvSpPr txBox="1"/>
          <p:nvPr/>
        </p:nvSpPr>
        <p:spPr>
          <a:xfrm>
            <a:off x="9098280" y="5221224"/>
            <a:ext cx="25420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Publicats (continguts vigents) · Retirats (consulta; ja no són visibles per als agents)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Els dos cicles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sp>
        <p:nvSpPr>
          <p:cNvPr id="8" name="Títol"/>
          <p:cNvSpPr txBox="1"/>
          <p:nvPr/>
        </p:nvSpPr>
        <p:spPr>
          <a:xfrm>
            <a:off x="411480" y="86868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Arial"/>
              </a:rPr>
              <a:t>Els dos cicles de vida</a:t>
            </a:r>
          </a:p>
        </p:txBody>
      </p:sp>
      <p:sp>
        <p:nvSpPr>
          <p:cNvPr id="9" name="Etiqueta Base"/>
          <p:cNvSpPr/>
          <p:nvPr/>
        </p:nvSpPr>
        <p:spPr>
          <a:xfrm>
            <a:off x="411480" y="1463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8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etiqueta Base"/>
          <p:cNvSpPr txBox="1"/>
          <p:nvPr/>
        </p:nvSpPr>
        <p:spPr>
          <a:xfrm>
            <a:off x="411480" y="146304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Contingut Base</a:t>
            </a:r>
          </a:p>
        </p:txBody>
      </p:sp>
      <p:sp>
        <p:nvSpPr>
          <p:cNvPr id="11" name="Editor Departamental"/>
          <p:cNvSpPr/>
          <p:nvPr/>
        </p:nvSpPr>
        <p:spPr>
          <a:xfrm>
            <a:off x="411480" y="196596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Editor Departamental (text)"/>
          <p:cNvSpPr txBox="1"/>
          <p:nvPr/>
        </p:nvSpPr>
        <p:spPr>
          <a:xfrm>
            <a:off x="502920" y="2075688"/>
            <a:ext cx="1691639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Editor Departamental</a:t>
            </a:r>
          </a:p>
        </p:txBody>
      </p:sp>
      <p:sp>
        <p:nvSpPr>
          <p:cNvPr id="13" name="Editor Departamental (estat)"/>
          <p:cNvSpPr txBox="1"/>
          <p:nvPr/>
        </p:nvSpPr>
        <p:spPr>
          <a:xfrm>
            <a:off x="502920" y="2688336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Arial"/>
              </a:rPr>
              <a:t>En elaboració</a:t>
            </a:r>
          </a:p>
        </p:txBody>
      </p:sp>
      <p:sp>
        <p:nvSpPr>
          <p:cNvPr id="14" name="Fletxa"/>
          <p:cNvSpPr/>
          <p:nvPr/>
        </p:nvSpPr>
        <p:spPr>
          <a:xfrm>
            <a:off x="2322576" y="2372868"/>
            <a:ext cx="292608" cy="237744"/>
          </a:xfrm>
          <a:prstGeom prst="rightArrow">
            <a:avLst/>
          </a:prstGeom>
          <a:solidFill>
            <a:srgbClr val="C8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ferent Departamental"/>
          <p:cNvSpPr/>
          <p:nvPr/>
        </p:nvSpPr>
        <p:spPr>
          <a:xfrm>
            <a:off x="2651760" y="196596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ferent Departamental (text)"/>
          <p:cNvSpPr txBox="1"/>
          <p:nvPr/>
        </p:nvSpPr>
        <p:spPr>
          <a:xfrm>
            <a:off x="2743200" y="2075688"/>
            <a:ext cx="1691639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Referent Departamental</a:t>
            </a:r>
          </a:p>
        </p:txBody>
      </p:sp>
      <p:sp>
        <p:nvSpPr>
          <p:cNvPr id="17" name="Referent Departamental (estat)"/>
          <p:cNvSpPr txBox="1"/>
          <p:nvPr/>
        </p:nvSpPr>
        <p:spPr>
          <a:xfrm>
            <a:off x="2743200" y="2688336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Arial"/>
              </a:rPr>
              <a:t>En validació</a:t>
            </a:r>
          </a:p>
        </p:txBody>
      </p:sp>
      <p:sp>
        <p:nvSpPr>
          <p:cNvPr id="18" name="Fletxa"/>
          <p:cNvSpPr/>
          <p:nvPr/>
        </p:nvSpPr>
        <p:spPr>
          <a:xfrm>
            <a:off x="4562855" y="2372868"/>
            <a:ext cx="292608" cy="237744"/>
          </a:xfrm>
          <a:prstGeom prst="rightArrow">
            <a:avLst/>
          </a:prstGeom>
          <a:solidFill>
            <a:srgbClr val="C8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Validador unitat finalista"/>
          <p:cNvSpPr/>
          <p:nvPr/>
        </p:nvSpPr>
        <p:spPr>
          <a:xfrm>
            <a:off x="4892040" y="196596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Validador unitat finalista (text)"/>
          <p:cNvSpPr txBox="1"/>
          <p:nvPr/>
        </p:nvSpPr>
        <p:spPr>
          <a:xfrm>
            <a:off x="4983479" y="2075688"/>
            <a:ext cx="1691639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Validador unitat finalista</a:t>
            </a:r>
          </a:p>
        </p:txBody>
      </p:sp>
      <p:sp>
        <p:nvSpPr>
          <p:cNvPr id="21" name="Validador unitat finalista (estat)"/>
          <p:cNvSpPr txBox="1"/>
          <p:nvPr/>
        </p:nvSpPr>
        <p:spPr>
          <a:xfrm>
            <a:off x="4983479" y="2688336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Arial"/>
              </a:rPr>
              <a:t>En validació</a:t>
            </a:r>
          </a:p>
        </p:txBody>
      </p:sp>
      <p:sp>
        <p:nvSpPr>
          <p:cNvPr id="22" name="Fletxa"/>
          <p:cNvSpPr/>
          <p:nvPr/>
        </p:nvSpPr>
        <p:spPr>
          <a:xfrm>
            <a:off x="6803136" y="2372868"/>
            <a:ext cx="292608" cy="237744"/>
          </a:xfrm>
          <a:prstGeom prst="rightArrow">
            <a:avLst/>
          </a:prstGeom>
          <a:solidFill>
            <a:srgbClr val="C8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estor Coneixement Coord"/>
          <p:cNvSpPr/>
          <p:nvPr/>
        </p:nvSpPr>
        <p:spPr>
          <a:xfrm>
            <a:off x="7132320" y="196596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estor Coneixement Coord (text)"/>
          <p:cNvSpPr txBox="1"/>
          <p:nvPr/>
        </p:nvSpPr>
        <p:spPr>
          <a:xfrm>
            <a:off x="7223759" y="2075688"/>
            <a:ext cx="1691639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Gestor Coneixement Coord</a:t>
            </a:r>
          </a:p>
        </p:txBody>
      </p:sp>
      <p:sp>
        <p:nvSpPr>
          <p:cNvPr id="25" name="Gestor Coneixement Coord (estat)"/>
          <p:cNvSpPr txBox="1"/>
          <p:nvPr/>
        </p:nvSpPr>
        <p:spPr>
          <a:xfrm>
            <a:off x="7223759" y="2688336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Arial"/>
              </a:rPr>
              <a:t>En validació</a:t>
            </a:r>
          </a:p>
        </p:txBody>
      </p:sp>
      <p:sp>
        <p:nvSpPr>
          <p:cNvPr id="26" name="Fletxa"/>
          <p:cNvSpPr/>
          <p:nvPr/>
        </p:nvSpPr>
        <p:spPr>
          <a:xfrm>
            <a:off x="9043415" y="2372868"/>
            <a:ext cx="292608" cy="237744"/>
          </a:xfrm>
          <a:prstGeom prst="rightArrow">
            <a:avLst/>
          </a:prstGeom>
          <a:solidFill>
            <a:srgbClr val="C8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Publicat"/>
          <p:cNvSpPr/>
          <p:nvPr/>
        </p:nvSpPr>
        <p:spPr>
          <a:xfrm>
            <a:off x="9372599" y="196596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E7F6EC"/>
          </a:solidFill>
          <a:ln w="15875">
            <a:solidFill>
              <a:srgbClr val="1580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Publicat (text)"/>
          <p:cNvSpPr txBox="1"/>
          <p:nvPr/>
        </p:nvSpPr>
        <p:spPr>
          <a:xfrm>
            <a:off x="9464039" y="2075688"/>
            <a:ext cx="1691639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  <a:latin typeface="Arial"/>
              </a:rPr>
              <a:t>Publicat</a:t>
            </a:r>
          </a:p>
        </p:txBody>
      </p:sp>
      <p:sp>
        <p:nvSpPr>
          <p:cNvPr id="29" name="Publicat (estat)"/>
          <p:cNvSpPr txBox="1"/>
          <p:nvPr/>
        </p:nvSpPr>
        <p:spPr>
          <a:xfrm>
            <a:off x="9464039" y="2688336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Arial"/>
              </a:rPr>
              <a:t>Vigent a la BCAC</a:t>
            </a:r>
          </a:p>
        </p:txBody>
      </p:sp>
      <p:sp>
        <p:nvSpPr>
          <p:cNvPr id="30" name="Etiqueta Adaptat"/>
          <p:cNvSpPr/>
          <p:nvPr/>
        </p:nvSpPr>
        <p:spPr>
          <a:xfrm>
            <a:off x="411480" y="31089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 etiqueta Adaptat"/>
          <p:cNvSpPr txBox="1"/>
          <p:nvPr/>
        </p:nvSpPr>
        <p:spPr>
          <a:xfrm>
            <a:off x="411480" y="31089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Contingut Adaptat</a:t>
            </a:r>
          </a:p>
        </p:txBody>
      </p:sp>
      <p:sp>
        <p:nvSpPr>
          <p:cNvPr id="32" name="Editor de Canal"/>
          <p:cNvSpPr/>
          <p:nvPr/>
        </p:nvSpPr>
        <p:spPr>
          <a:xfrm>
            <a:off x="411480" y="361188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4E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Editor de Canal (text)"/>
          <p:cNvSpPr txBox="1"/>
          <p:nvPr/>
        </p:nvSpPr>
        <p:spPr>
          <a:xfrm>
            <a:off x="502920" y="3721608"/>
            <a:ext cx="1691639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Editor de Canal</a:t>
            </a:r>
          </a:p>
        </p:txBody>
      </p:sp>
      <p:sp>
        <p:nvSpPr>
          <p:cNvPr id="34" name="Editor de Canal (estat)"/>
          <p:cNvSpPr txBox="1"/>
          <p:nvPr/>
        </p:nvSpPr>
        <p:spPr>
          <a:xfrm>
            <a:off x="502920" y="4334255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Arial"/>
              </a:rPr>
              <a:t>En elaboració</a:t>
            </a:r>
          </a:p>
        </p:txBody>
      </p:sp>
      <p:sp>
        <p:nvSpPr>
          <p:cNvPr id="35" name="Fletxa"/>
          <p:cNvSpPr/>
          <p:nvPr/>
        </p:nvSpPr>
        <p:spPr>
          <a:xfrm>
            <a:off x="2322576" y="4018788"/>
            <a:ext cx="292608" cy="237744"/>
          </a:xfrm>
          <a:prstGeom prst="rightArrow">
            <a:avLst/>
          </a:pr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estor Coneixement Canal"/>
          <p:cNvSpPr/>
          <p:nvPr/>
        </p:nvSpPr>
        <p:spPr>
          <a:xfrm>
            <a:off x="2651760" y="361188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4E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estor Coneixement Canal (text)"/>
          <p:cNvSpPr txBox="1"/>
          <p:nvPr/>
        </p:nvSpPr>
        <p:spPr>
          <a:xfrm>
            <a:off x="2743200" y="3721608"/>
            <a:ext cx="1691639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Gestor Coneixement Canal</a:t>
            </a:r>
          </a:p>
        </p:txBody>
      </p:sp>
      <p:sp>
        <p:nvSpPr>
          <p:cNvPr id="38" name="Gestor Coneixement Canal (estat)"/>
          <p:cNvSpPr txBox="1"/>
          <p:nvPr/>
        </p:nvSpPr>
        <p:spPr>
          <a:xfrm>
            <a:off x="2743200" y="4334255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Arial"/>
              </a:rPr>
              <a:t>En validació</a:t>
            </a:r>
          </a:p>
        </p:txBody>
      </p:sp>
      <p:sp>
        <p:nvSpPr>
          <p:cNvPr id="39" name="Fletxa"/>
          <p:cNvSpPr/>
          <p:nvPr/>
        </p:nvSpPr>
        <p:spPr>
          <a:xfrm>
            <a:off x="4562855" y="4018788"/>
            <a:ext cx="292608" cy="237744"/>
          </a:xfrm>
          <a:prstGeom prst="rightArrow">
            <a:avLst/>
          </a:pr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ublicat"/>
          <p:cNvSpPr/>
          <p:nvPr/>
        </p:nvSpPr>
        <p:spPr>
          <a:xfrm>
            <a:off x="4892040" y="361188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E7F6EC"/>
          </a:solidFill>
          <a:ln w="15875">
            <a:solidFill>
              <a:srgbClr val="1580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Publicat (text)"/>
          <p:cNvSpPr txBox="1"/>
          <p:nvPr/>
        </p:nvSpPr>
        <p:spPr>
          <a:xfrm>
            <a:off x="4983479" y="3721608"/>
            <a:ext cx="1691639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  <a:latin typeface="Arial"/>
              </a:rPr>
              <a:t>Publicat</a:t>
            </a:r>
          </a:p>
        </p:txBody>
      </p:sp>
      <p:sp>
        <p:nvSpPr>
          <p:cNvPr id="42" name="Publicat (estat)"/>
          <p:cNvSpPr txBox="1"/>
          <p:nvPr/>
        </p:nvSpPr>
        <p:spPr>
          <a:xfrm>
            <a:off x="4983479" y="4334255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Arial"/>
              </a:rPr>
              <a:t>Vigent a la BCAC</a:t>
            </a:r>
          </a:p>
        </p:txBody>
      </p:sp>
      <p:sp>
        <p:nvSpPr>
          <p:cNvPr id="43" name="Nota Adaptat"/>
          <p:cNvSpPr txBox="1"/>
          <p:nvPr/>
        </p:nvSpPr>
        <p:spPr>
          <a:xfrm>
            <a:off x="7223759" y="379476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Arial"/>
              </a:rPr>
              <a:t>Parteix d'un contingut Base ja publicat: en hereta departament, taxonomia i responsable.</a:t>
            </a:r>
          </a:p>
        </p:txBody>
      </p:sp>
      <p:sp>
        <p:nvSpPr>
          <p:cNvPr id="44" name="Targeta Rebuig"/>
          <p:cNvSpPr/>
          <p:nvPr/>
        </p:nvSpPr>
        <p:spPr>
          <a:xfrm>
            <a:off x="411480" y="5074920"/>
            <a:ext cx="372160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ítol Rebuig"/>
          <p:cNvSpPr txBox="1"/>
          <p:nvPr/>
        </p:nvSpPr>
        <p:spPr>
          <a:xfrm>
            <a:off x="594360" y="51937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80000"/>
                </a:solidFill>
                <a:latin typeface="Arial"/>
              </a:rPr>
              <a:t>Rebuig</a:t>
            </a:r>
          </a:p>
        </p:txBody>
      </p:sp>
      <p:sp>
        <p:nvSpPr>
          <p:cNvPr id="46" name="Text Rebuig"/>
          <p:cNvSpPr txBox="1"/>
          <p:nvPr/>
        </p:nvSpPr>
        <p:spPr>
          <a:xfrm>
            <a:off x="594360" y="55321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Des de qualsevol fase de validació, amb motiu: torna a l'editor.</a:t>
            </a:r>
          </a:p>
        </p:txBody>
      </p:sp>
      <p:sp>
        <p:nvSpPr>
          <p:cNvPr id="47" name="Targeta Nova versió"/>
          <p:cNvSpPr/>
          <p:nvPr/>
        </p:nvSpPr>
        <p:spPr>
          <a:xfrm>
            <a:off x="4233672" y="5074920"/>
            <a:ext cx="372160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ítol Nova versió"/>
          <p:cNvSpPr txBox="1"/>
          <p:nvPr/>
        </p:nvSpPr>
        <p:spPr>
          <a:xfrm>
            <a:off x="4416552" y="51937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803D"/>
                </a:solidFill>
                <a:latin typeface="Arial"/>
              </a:rPr>
              <a:t>Nova versió</a:t>
            </a:r>
          </a:p>
        </p:txBody>
      </p:sp>
      <p:sp>
        <p:nvSpPr>
          <p:cNvPr id="49" name="Text Nova versió"/>
          <p:cNvSpPr txBox="1"/>
          <p:nvPr/>
        </p:nvSpPr>
        <p:spPr>
          <a:xfrm>
            <a:off x="4416552" y="55321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Còpia editable (v+1); la publicada segueix vigent fins que es publica la nova.</a:t>
            </a:r>
          </a:p>
        </p:txBody>
      </p:sp>
      <p:sp>
        <p:nvSpPr>
          <p:cNvPr id="50" name="Targeta Retirada"/>
          <p:cNvSpPr/>
          <p:nvPr/>
        </p:nvSpPr>
        <p:spPr>
          <a:xfrm>
            <a:off x="8055863" y="5074920"/>
            <a:ext cx="372160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ítol Retirada"/>
          <p:cNvSpPr txBox="1"/>
          <p:nvPr/>
        </p:nvSpPr>
        <p:spPr>
          <a:xfrm>
            <a:off x="8238743" y="51937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B5563"/>
                </a:solidFill>
                <a:latin typeface="Arial"/>
              </a:rPr>
              <a:t>Retirada</a:t>
            </a:r>
          </a:p>
        </p:txBody>
      </p:sp>
      <p:sp>
        <p:nvSpPr>
          <p:cNvPr id="52" name="Text Retirada"/>
          <p:cNvSpPr txBox="1"/>
          <p:nvPr/>
        </p:nvSpPr>
        <p:spPr>
          <a:xfrm>
            <a:off x="8238743" y="55321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La nova versió substitueix l'anterior, o es retira manualment: va a Retirats.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Departamental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Accés a la pujada de contingut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Cada perfil treballa a la seva pestanya del tauler.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botó «Puja un nou contingut» inicia el cicle d'un contingut Base.</a:t>
            </a:r>
          </a:p>
        </p:txBody>
      </p:sp>
      <p:pic>
        <p:nvPicPr>
          <p:cNvPr id="11" name="Captura b01_editor_boto" descr="b01_editor_b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3738798" y="2439619"/>
            <a:ext cx="1326219" cy="258820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3685032" y="2334463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Puja un nou contingut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Departamental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Pujada de BASE_FM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1975104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Fitxer PDF i metadades: denominació, tipus, idioma i tipologia.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Departament competent, taxonomia i responsable: formulari complet visible.</a:t>
            </a:r>
          </a:p>
        </p:txBody>
      </p:sp>
      <p:pic>
        <p:nvPicPr>
          <p:cNvPr id="11" name="Captura b02_upload_base" descr="b02_upload_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178" y="868680"/>
            <a:ext cx="6184715" cy="55778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Departamental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Contingut pujat: BASE_FM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Queda en estat «En elaboració – Editor Departamental», versió v1.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Quan és a punt, l'editor l'envia a revisió.</a:t>
            </a:r>
          </a:p>
        </p:txBody>
      </p:sp>
      <p:pic>
        <p:nvPicPr>
          <p:cNvPr id="11" name="Captura b03_editor_dashboard" descr="b03_editor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540876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435720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Enviar a revisió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Referent Departamental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Anàlisi amb IA de claredat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L'agent d'IA audita la coherència i la claredat del text del PDF.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BASE_FM: cap contradicció greu.</a:t>
            </a:r>
          </a:p>
        </p:txBody>
      </p:sp>
      <p:pic>
        <p:nvPicPr>
          <p:cNvPr id="11" name="Captura b04_ref_ia" descr="b04_ref_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322655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217499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3865671" y="3875821"/>
            <a:ext cx="7703728" cy="67242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3760515" y="3770665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Anàlisi amb IA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Informe de la 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Referent Departamental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Resultat de la IA amb un contingut incoherent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Cas BASE_INCOHERENTE_FM: la IA detecta contradiccions i proposa millores.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Cada troballa es localitza al PDF anotat, amb la frase ressaltada i un quadre al marge.</a:t>
            </a:r>
          </a:p>
        </p:txBody>
      </p:sp>
      <p:pic>
        <p:nvPicPr>
          <p:cNvPr id="11" name="Captura b05b_ref_pdf" descr="b05b_ref_p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337" y="868680"/>
            <a:ext cx="4914396" cy="55778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5386269" y="4453117"/>
            <a:ext cx="4662533" cy="1867470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5287769" y="4347961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PDF anotat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Referent Departamental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Aprovació de BASE_FM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referent valida el contingut i l'envia a la unitat finalista.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A la llista només hi ha BASE_FM.</a:t>
            </a:r>
          </a:p>
        </p:txBody>
      </p:sp>
      <p:pic>
        <p:nvPicPr>
          <p:cNvPr id="11" name="Captura b06_ref_aprova" descr="b06_ref_apro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109508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004352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Envia a validació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Validador de la unitat finalista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Anàlisi normativa amb IA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Contrasta el contingut amb el Decret de Protecció a les Famílies Nombroses.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Per a cada troballa, l'informe cita la normativa afectada.</a:t>
            </a:r>
          </a:p>
        </p:txBody>
      </p:sp>
      <p:pic>
        <p:nvPicPr>
          <p:cNvPr id="11" name="Captura b07_val_normativa" descr="b07_val_normati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247012"/>
            <a:ext cx="8119872" cy="4821174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195782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090626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3865671" y="3748948"/>
            <a:ext cx="7703728" cy="211116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3760515" y="3643792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Validació normativa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Informe normatiu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Validador de la unitat finalista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Resultat normatiu sobre el PDF de BASE_FM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Cada incoherència amb la normativa se situa a la seva pàgina del PDF.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Seleccionar una targeta sincronitza el visor amb la pàgina.</a:t>
            </a:r>
          </a:p>
        </p:txBody>
      </p:sp>
      <p:pic>
        <p:nvPicPr>
          <p:cNvPr id="11" name="Captura b08_val_pdf" descr="b08_val_p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243" y="868680"/>
            <a:ext cx="5702584" cy="55778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5204834" y="3055264"/>
            <a:ext cx="3699551" cy="826874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5099678" y="2950108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5012372" y="4133409"/>
            <a:ext cx="5410326" cy="2166981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4907216" y="4028253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Incoherència seleccionada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PDF anotat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Validador de la unitat finalista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Aprovació de BASE_FM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validador finalista dona el vistiplau amb «Validar».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contingut passa al Gestor Coneixement Coord.</a:t>
            </a:r>
          </a:p>
        </p:txBody>
      </p:sp>
      <p:pic>
        <p:nvPicPr>
          <p:cNvPr id="11" name="Captura b09_val_aprova" descr="b09_val_apro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109508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004352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Validar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Gestor Coneixement Coord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Duplicitats: cap contingut publicat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Compara amb els continguts publicats (SimHash i similitud semàntica).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Sense publicats, no hi ha res amb què comparar: cap duplicitat.</a:t>
            </a:r>
          </a:p>
        </p:txBody>
      </p:sp>
      <p:pic>
        <p:nvPicPr>
          <p:cNvPr id="11" name="Captura b10_gc_duplicitats_cap" descr="b10_gc_duplicitats_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322655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217499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3865671" y="3875821"/>
            <a:ext cx="7703728" cy="86273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3760515" y="3770665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Detecció de duplicitats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Resultat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Gestor Coneixement Coord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Duplicitats: coincidència detectada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Es puja BASE_INCOHERENTE_FM amb BASE_FM ja publicat.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sistema avisa de la coincidència gairebé exacta amb BASE_FM.</a:t>
            </a:r>
          </a:p>
        </p:txBody>
      </p:sp>
      <p:pic>
        <p:nvPicPr>
          <p:cNvPr id="11" name="Captura b11_gc_duplicitats_si" descr="b11_gc_duplicitats_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322655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217499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3865671" y="3875821"/>
            <a:ext cx="7703728" cy="1304254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3760515" y="3770665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Detecció de duplicitats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Duplicitat detectada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Gestor Coneixement Coord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Publicació de BASE_FM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«Publicar» deixa el contingut vigent a la BCAC.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Es registren la data de publicació i la de revisió prevista.</a:t>
            </a:r>
          </a:p>
        </p:txBody>
      </p:sp>
      <p:pic>
        <p:nvPicPr>
          <p:cNvPr id="11" name="Captura b12_gc_publica" descr="b12_gc_publi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109508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004352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Publicar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679191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Qualsevol fase de validació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Rebuig amb motiu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1975104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Referent, validador i gestors poden rebutjar.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motiu és obligatori (màxim 500 caràcters).</a:t>
            </a:r>
          </a:p>
        </p:txBody>
      </p:sp>
      <p:pic>
        <p:nvPicPr>
          <p:cNvPr id="11" name="Captura b13_rebuig_dialeg" descr="b13_rebuig_diale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6479255" y="2735233"/>
            <a:ext cx="2476560" cy="1844733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6374099" y="2630077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Motiu de la devolució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Departamental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El contingut torna a l'Editor Departamental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L'editor veu el motiu de la devolució.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Els informes d'IA es reinicien.</a:t>
            </a:r>
          </a:p>
        </p:txBody>
      </p:sp>
      <p:pic>
        <p:nvPicPr>
          <p:cNvPr id="11" name="Captura b14_rebuig_editor" descr="b14_rebuig_ed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3794622" y="3251606"/>
            <a:ext cx="966930" cy="933785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3689466" y="3146450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9724270" y="3114583"/>
            <a:ext cx="808815" cy="365394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9619114" y="3009427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Motiu de la devolució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Estat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Publicats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Nova versió: la publicada continua vigent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«Crea una nova versió» no retira res: la v1 segueix publicada.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La fila indica «Nova versió en curs».</a:t>
            </a:r>
          </a:p>
        </p:txBody>
      </p:sp>
      <p:pic>
        <p:nvPicPr>
          <p:cNvPr id="11" name="Captura b15_nova_publicada" descr="b15_nova_publica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9724270" y="2896361"/>
            <a:ext cx="423755" cy="182697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9619114" y="2791206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10593984" y="3109508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10488828" y="3004352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Versió publicada: segueix vigent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Nova versió en curs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Departamental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La nova versió arriba a l'editor (v2)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Còpia editable amb la versió incrementada.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Es pot editar abans de reiniciar les validacions.</a:t>
            </a:r>
          </a:p>
        </p:txBody>
      </p:sp>
      <p:pic>
        <p:nvPicPr>
          <p:cNvPr id="11" name="Captura b16_nova_editor" descr="b16_nova_ed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7143514" y="3094283"/>
            <a:ext cx="243596" cy="172547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7038358" y="2989127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10593984" y="3327730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10488828" y="3222574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Versió v2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Edita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21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Publicats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Cicle complet: la v2 queda publicada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Superades totes les fases, la v2 passa a Publicat.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La v1 deixa de ser la versió vigent.</a:t>
            </a:r>
          </a:p>
        </p:txBody>
      </p:sp>
      <p:pic>
        <p:nvPicPr>
          <p:cNvPr id="11" name="Captura b17a_publicats_v2" descr="b17a_publicats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7143514" y="2876062"/>
            <a:ext cx="243596" cy="172547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7038358" y="2770906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v2 publicada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22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Retirats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La v1 passa a retirada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En publicar la v2, la versió anterior es mou a Retirats.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Estat: «Retirat per nova versió».</a:t>
            </a:r>
          </a:p>
        </p:txBody>
      </p:sp>
      <p:pic>
        <p:nvPicPr>
          <p:cNvPr id="11" name="Captura b17b_retirats_v1" descr="b17b_retirats_v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627631"/>
            <a:ext cx="8119872" cy="4059936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9726851" y="2980944"/>
            <a:ext cx="765185" cy="162397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9621695" y="2875788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Retirada per nova versió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Base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23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Retirats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Retirada d'un contingut publicat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Deixa de ser visible per als agents, però continua a la BCAC.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Es pot consultar des de la pestanya Retirats.</a:t>
            </a:r>
          </a:p>
        </p:txBody>
      </p:sp>
      <p:pic>
        <p:nvPicPr>
          <p:cNvPr id="11" name="Captura b18_retirat" descr="b18_retir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627631"/>
            <a:ext cx="8119872" cy="4059936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9726851" y="2980944"/>
            <a:ext cx="337764" cy="162397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9621695" y="2875788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Retirat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24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691639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Accés a la pujada d'un adaptat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Un contingut Adaptat es crea a partir d'un Base ja publicat.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botó «Puja un nou contingut» obre el formulari.</a:t>
            </a:r>
          </a:p>
        </p:txBody>
      </p:sp>
      <p:pic>
        <p:nvPicPr>
          <p:cNvPr id="11" name="Captura a01_canal_boto" descr="a01_canal_b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3637300" y="1353586"/>
            <a:ext cx="40599" cy="40599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3685032" y="1401317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Puja un nou contingut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25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691639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Pujada de ADAPTAT_FM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Unitat base d'origen (BASE_FM v1) i canal WEB.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Departament, taxonomia i responsable s'hereten de la font.</a:t>
            </a:r>
          </a:p>
        </p:txBody>
      </p:sp>
      <p:pic>
        <p:nvPicPr>
          <p:cNvPr id="11" name="Captura a02_upload_adaptat" descr="a02_upload_adapt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247" y="868680"/>
            <a:ext cx="4952577" cy="55778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26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691639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Contingut pujat i aprovació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Estat «En elaboració – Editor Canal».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L'editor l'envia a validació del Gestor Coneixement Canal.</a:t>
            </a:r>
          </a:p>
        </p:txBody>
      </p:sp>
      <p:pic>
        <p:nvPicPr>
          <p:cNvPr id="11" name="Captura a03_canal_dashboard" descr="a03_canal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540876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435720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Envia a validació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27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Gestor Coneixement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Comprovacions amb IA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«Comprovar Fidelitat» compara l'adaptació amb els Base d'origen.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Detecta restriccions o ampliacions que no són a la font.</a:t>
            </a:r>
          </a:p>
        </p:txBody>
      </p:sp>
      <p:pic>
        <p:nvPicPr>
          <p:cNvPr id="11" name="Captura a04a_gcc_abans" descr="a04a_gcc_aba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322655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217499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Comprovar Fidelitat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28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Gestor Coneixement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Fidelitat sobre el PDF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L'informe llista cada discrepància amb la font original.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PDF anotat mostra la frase afectada i el text de la font.</a:t>
            </a:r>
          </a:p>
        </p:txBody>
      </p:sp>
      <p:pic>
        <p:nvPicPr>
          <p:cNvPr id="11" name="Captura a05_gcc_pdf" descr="a05_gcc_p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716" y="868680"/>
            <a:ext cx="4227638" cy="55778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5854732" y="2489714"/>
            <a:ext cx="2742680" cy="620934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5749576" y="2384558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5712050" y="4731684"/>
            <a:ext cx="4010971" cy="1606502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5631148" y="4626528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Incoherència seleccionada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PDF anotat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29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Gestor Coneixement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Rebuig amb motiu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1975104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gestor retorna l'adaptació a l'editor.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motiu és obligatori.</a:t>
            </a:r>
          </a:p>
        </p:txBody>
      </p:sp>
      <p:pic>
        <p:nvPicPr>
          <p:cNvPr id="11" name="Captura a06_rebuig_dialeg" descr="a06_rebuig_diale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6479255" y="2735233"/>
            <a:ext cx="2476560" cy="1844733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6374099" y="2630077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Motiu de la devolució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30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691639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Contingut rebutjat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Torna a l'editor amb el motiu visible.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«Edita» permet corregir-lo.</a:t>
            </a:r>
          </a:p>
        </p:txBody>
      </p:sp>
      <p:pic>
        <p:nvPicPr>
          <p:cNvPr id="11" name="Captura a07_canal_rebutjat" descr="a07_canal_rebutj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3794622" y="3358179"/>
            <a:ext cx="966930" cy="751088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3689466" y="3253023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10593984" y="3327730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10488828" y="3222574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Motiu de la devolució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Edita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31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691639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Edició del contingut rebutjat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formulari mostra el motiu de la devolució.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Desar no canvia ni la versió ni l'estat.</a:t>
            </a:r>
          </a:p>
        </p:txBody>
      </p:sp>
      <p:pic>
        <p:nvPicPr>
          <p:cNvPr id="11" name="Captura a07b_edit_form" descr="a07b_edit_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267" y="868680"/>
            <a:ext cx="4638536" cy="55778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32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Gestor Coneixement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Publicació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1975104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«Valida i publica» deixa l'adaptat vigent.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Un cop publicat passa a la pestanya Publicats.</a:t>
            </a:r>
          </a:p>
        </p:txBody>
      </p:sp>
      <p:pic>
        <p:nvPicPr>
          <p:cNvPr id="11" name="Captura a08_gcc_publica" descr="a04a_gcc_aba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109508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004352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Valida i publica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33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Gestor Coneixement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Nova versió: la publicada continua vigent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La v1 segueix publicada mentre es treballa la v2.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La successora (v2) va a l'Editor de Canal.</a:t>
            </a:r>
          </a:p>
        </p:txBody>
      </p:sp>
      <p:pic>
        <p:nvPicPr>
          <p:cNvPr id="11" name="Captura a09_nova_publicada" descr="a09_nova_publica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9724270" y="2896361"/>
            <a:ext cx="423755" cy="182697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9619114" y="2791206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10593984" y="3109508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10488828" y="3004352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Versió publicada: segueix vigent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Nova versió en curs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34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691639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Tornada a l'editor: v2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La v2 apareix a la safata de l'Editor de Canal.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Versió incrementada i botó «Edita».</a:t>
            </a:r>
          </a:p>
        </p:txBody>
      </p:sp>
      <p:pic>
        <p:nvPicPr>
          <p:cNvPr id="11" name="Captura a10_nova_editor" descr="a10_nova_ed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7143514" y="3094283"/>
            <a:ext cx="243596" cy="172547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7038358" y="2989127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Ressaltat 2"/>
          <p:cNvSpPr/>
          <p:nvPr/>
        </p:nvSpPr>
        <p:spPr>
          <a:xfrm>
            <a:off x="10593984" y="3327730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úmero 2"/>
          <p:cNvSpPr/>
          <p:nvPr/>
        </p:nvSpPr>
        <p:spPr>
          <a:xfrm>
            <a:off x="10488828" y="3222574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Llegenda 1"/>
          <p:cNvSpPr/>
          <p:nvPr/>
        </p:nvSpPr>
        <p:spPr>
          <a:xfrm>
            <a:off x="411480" y="57058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7" name="Etiqueta 1"/>
          <p:cNvSpPr txBox="1"/>
          <p:nvPr/>
        </p:nvSpPr>
        <p:spPr>
          <a:xfrm>
            <a:off x="758952" y="572414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Versió v2</a:t>
            </a:r>
          </a:p>
        </p:txBody>
      </p:sp>
      <p:sp>
        <p:nvSpPr>
          <p:cNvPr id="18" name="Llegenda 2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9" name="Etiqueta 2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Edita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35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Publicats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Crear una nova versió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botó «Crea una nova versió» és a la pestanya Publicats.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La versió publicada no es toca.</a:t>
            </a:r>
          </a:p>
        </p:txBody>
      </p:sp>
      <p:pic>
        <p:nvPicPr>
          <p:cNvPr id="11" name="Captura a12_publicats_abans" descr="a12_publicats_aba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109508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004352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Crea una nova versió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36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691639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Editor de Canal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La nova versió es pot editar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El formulari carrega les dades de la v1.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Es pot canviar el fitxer o les metadades.</a:t>
            </a:r>
          </a:p>
        </p:txBody>
      </p:sp>
      <p:pic>
        <p:nvPicPr>
          <p:cNvPr id="11" name="Captura a13_nova_edicio" descr="a13_nova_edi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97" y="868680"/>
            <a:ext cx="4824077" cy="55778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37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Publicats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Cicle complet: la v2 queda publicada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Superades les validacions, la v2 passa a Publicat.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La v1 deixa de ser la versió vigent.</a:t>
            </a:r>
          </a:p>
        </p:txBody>
      </p:sp>
      <p:pic>
        <p:nvPicPr>
          <p:cNvPr id="11" name="Captura a14a_publicats_v2" descr="a14a_publicats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7143514" y="2876062"/>
            <a:ext cx="243596" cy="172547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7038358" y="2770906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v2 publicada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38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Retirats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La v1 passa a retirats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313432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La versió anterior es mou a Retirats.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Estat: «Retirat per nova versió».</a:t>
            </a:r>
          </a:p>
        </p:txBody>
      </p:sp>
      <p:pic>
        <p:nvPicPr>
          <p:cNvPr id="11" name="Captura a14b_retirats_v1" descr="a14b_retirats_v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627631"/>
            <a:ext cx="8119872" cy="4059936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9726851" y="2980944"/>
            <a:ext cx="765185" cy="162397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9621695" y="2875788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Retirada per nova versió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çalera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parador capçalera"/>
          <p:cNvSpPr/>
          <p:nvPr/>
        </p:nvSpPr>
        <p:spPr>
          <a:xfrm>
            <a:off x="0" y="658368"/>
            <a:ext cx="12191695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Logo Generalitat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248461" cy="402336"/>
          </a:xfrm>
          <a:prstGeom prst="rect">
            <a:avLst/>
          </a:prstGeom>
        </p:spPr>
      </p:pic>
      <p:sp>
        <p:nvSpPr>
          <p:cNvPr id="5" name="Secció"/>
          <p:cNvSpPr txBox="1"/>
          <p:nvPr/>
        </p:nvSpPr>
        <p:spPr>
          <a:xfrm>
            <a:off x="4572000" y="219456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Arial"/>
              </a:rPr>
              <a:t>Contingut Adaptat · Cicle de vida</a:t>
            </a:r>
          </a:p>
        </p:txBody>
      </p:sp>
      <p:sp>
        <p:nvSpPr>
          <p:cNvPr id="6" name="Peu"/>
          <p:cNvSpPr txBox="1"/>
          <p:nvPr/>
        </p:nvSpPr>
        <p:spPr>
          <a:xfrm>
            <a:off x="41148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BCAC POC · Ayesa Digital</a:t>
            </a:r>
          </a:p>
        </p:txBody>
      </p:sp>
      <p:sp>
        <p:nvSpPr>
          <p:cNvPr id="7" name="Número"/>
          <p:cNvSpPr txBox="1"/>
          <p:nvPr/>
        </p:nvSpPr>
        <p:spPr>
          <a:xfrm>
            <a:off x="10972800" y="6510528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</a:rPr>
              <a:t>39</a:t>
            </a:r>
          </a:p>
        </p:txBody>
      </p:sp>
      <p:sp>
        <p:nvSpPr>
          <p:cNvPr id="8" name="Rol"/>
          <p:cNvSpPr/>
          <p:nvPr/>
        </p:nvSpPr>
        <p:spPr>
          <a:xfrm>
            <a:off x="411480" y="914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</p:spPr>
        <p:txBody>
          <a:bodyPr rtlCol="0" anchor="ctr" tIns="0" bIns="0" wrap="square"/>
          <a:lstStyle/>
          <a:p>
            <a:pPr algn="ctr"/>
            <a:r>
              <a:rPr sz="1100" b="1">
                <a:solidFill>
                  <a:srgbClr val="C80000"/>
                </a:solidFill>
                <a:latin typeface="Arial"/>
              </a:rPr>
              <a:t>Publicats</a:t>
            </a:r>
          </a:p>
        </p:txBody>
      </p:sp>
      <p:sp>
        <p:nvSpPr>
          <p:cNvPr id="9" name="Títol"/>
          <p:cNvSpPr txBox="1"/>
          <p:nvPr/>
        </p:nvSpPr>
        <p:spPr>
          <a:xfrm>
            <a:off x="411480" y="1389888"/>
            <a:ext cx="30175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Retirada d'un contingut publicat</a:t>
            </a:r>
          </a:p>
        </p:txBody>
      </p:sp>
      <p:sp>
        <p:nvSpPr>
          <p:cNvPr id="10" name="Punts clau"/>
          <p:cNvSpPr txBox="1"/>
          <p:nvPr/>
        </p:nvSpPr>
        <p:spPr>
          <a:xfrm>
            <a:off x="411480" y="26517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«Retira el contingut» el treu de la vista dels agents.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A1A1A"/>
                </a:solidFill>
                <a:latin typeface="Arial"/>
              </a:rPr>
              <a:t>Continua consultable a Retirats.</a:t>
            </a:r>
          </a:p>
        </p:txBody>
      </p:sp>
      <p:pic>
        <p:nvPicPr>
          <p:cNvPr id="11" name="Captura a15a_publicats_abans" descr="a12_publicats_aba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3885"/>
            <a:ext cx="8119872" cy="45674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Ressaltat 1"/>
          <p:cNvSpPr/>
          <p:nvPr/>
        </p:nvSpPr>
        <p:spPr>
          <a:xfrm>
            <a:off x="10593984" y="3322655"/>
            <a:ext cx="1046464" cy="213146"/>
          </a:xfrm>
          <a:prstGeom prst="roundRect">
            <a:avLst>
              <a:gd name="adj" fmla="val 8000"/>
            </a:avLst>
          </a:prstGeom>
          <a:noFill/>
          <a:ln w="34925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úmero 1"/>
          <p:cNvSpPr/>
          <p:nvPr/>
        </p:nvSpPr>
        <p:spPr>
          <a:xfrm>
            <a:off x="10488828" y="3217499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4" name="Llegenda 1"/>
          <p:cNvSpPr/>
          <p:nvPr/>
        </p:nvSpPr>
        <p:spPr>
          <a:xfrm>
            <a:off x="411480" y="605332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5" name="Etiqueta 1"/>
          <p:cNvSpPr txBox="1"/>
          <p:nvPr/>
        </p:nvSpPr>
        <p:spPr>
          <a:xfrm>
            <a:off x="758952" y="6071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Retira el contingut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